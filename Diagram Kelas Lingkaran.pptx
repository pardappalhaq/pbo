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E2761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1E2761">
              <a:alpha val="7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IMPLEMENTASI OOP · JAVA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3736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 Kelas: Lingkaran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sederhana sebuah kelas dengan konstruktor serta dua metode: keliling() dan luas()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092440" y="1554480"/>
            <a:ext cx="3291840" cy="356616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92440" y="1554480"/>
            <a:ext cx="3291840" cy="457200"/>
          </a:xfrm>
          <a:prstGeom prst="rect">
            <a:avLst/>
          </a:prstGeom>
          <a:solidFill>
            <a:srgbClr val="CADCFC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92440" y="1554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Lingkaran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92440" y="3566160"/>
            <a:ext cx="3291840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02168" y="2011680"/>
            <a:ext cx="30723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42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jariJari: double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202168" y="3566160"/>
            <a:ext cx="30723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42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Lingkaran(double)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42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keliling(): double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42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luas(): double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KELAS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 Kelas Lingkaran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 Lingkaran memiliki satu atribut, satu konstruktor, dan dua metode perhitungan.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566160" cy="370332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286000"/>
            <a:ext cx="3566160" cy="457200"/>
          </a:xfrm>
          <a:prstGeom prst="rect">
            <a:avLst/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286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Lingkaran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4366260"/>
            <a:ext cx="3566160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2743200"/>
            <a:ext cx="3346704" cy="1623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42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jariJari: double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4366260"/>
            <a:ext cx="3346704" cy="1623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42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Lingkaran(double jariJari)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42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keliling(): double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42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luas(): double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17720" y="2331720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17720" y="2331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230368" y="2276856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230368" y="2642616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jariJari (double) — menyimpan panjang jari-jari lingkaran.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17720" y="3172968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17720" y="3172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230368" y="3118104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Konstruktor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230368" y="3483864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Lingkaran(double jariJari) — membuat objek baru dan langsung mengisi nilai jari-jari.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17720" y="4014216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617720" y="4014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230368" y="3959352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keliling()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230368" y="4325112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Menghitung keliling lingkaran dengan rumus 2 × π × jariJari.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17720" y="4855464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617720" y="48554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230368" y="4800600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luas()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230368" y="516636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Menghitung luas lingkaran dengan rumus π × jariJari².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 JAVA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Kode Kelas Lingkaran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818120" cy="5074920"/>
          </a:xfrm>
          <a:prstGeom prst="roundRect">
            <a:avLst>
              <a:gd name="adj" fmla="val 1622"/>
            </a:avLst>
          </a:prstGeom>
          <a:solidFill>
            <a:srgbClr val="10163A"/>
          </a:solidFill>
          <a:ln/>
          <a:effectLst>
            <a:outerShdw sx="100000" sy="100000" kx="0" ky="0" algn="bl" rotWithShape="0" blurRad="127000" dist="50800" dir="5400000">
              <a:srgbClr val="0B0E2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7818120" cy="365760"/>
          </a:xfrm>
          <a:prstGeom prst="roundRect">
            <a:avLst>
              <a:gd name="adj" fmla="val 22500"/>
            </a:avLst>
          </a:prstGeom>
          <a:solidFill>
            <a:srgbClr val="1B235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00200"/>
            <a:ext cx="7818120" cy="182880"/>
          </a:xfrm>
          <a:prstGeom prst="rect">
            <a:avLst/>
          </a:prstGeom>
          <a:solidFill>
            <a:srgbClr val="1B2354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545336"/>
            <a:ext cx="109728" cy="109728"/>
          </a:xfrm>
          <a:prstGeom prst="ellipse">
            <a:avLst/>
          </a:prstGeom>
          <a:solidFill>
            <a:srgbClr val="F2685C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1545336"/>
            <a:ext cx="109728" cy="109728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9" name="Shape 7"/>
          <p:cNvSpPr/>
          <p:nvPr/>
        </p:nvSpPr>
        <p:spPr>
          <a:xfrm>
            <a:off x="1225296" y="1545336"/>
            <a:ext cx="109728" cy="109728"/>
          </a:xfrm>
          <a:prstGeom prst="ellipse">
            <a:avLst/>
          </a:prstGeom>
          <a:solidFill>
            <a:srgbClr val="5FD06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1417320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Lingkaran.java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1892808"/>
            <a:ext cx="7360920" cy="4489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Lingkaran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jariJari;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Lingkaran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jariJari) {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.jariJari = jariJari;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keliling() {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Math.PI * jariJari;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luas() {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Math.PI * jariJari * jariJari;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641080" y="1508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41080" y="1965960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189280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menjaga jariJari agar hanya diubah lewat kelas ini sendiri.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641080" y="3017520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052560" y="294436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this.jariJari membedakan atribut kelas dari parameter konstruktor.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641080" y="4069080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4069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052560" y="399592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Math.PI adalah konstanta π bawaan Java.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 JAVA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Kode Program Utama (Main)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 Main membuat objek Lingkaran lalu memanggil kedua metodenya.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7818120" cy="3063240"/>
          </a:xfrm>
          <a:prstGeom prst="roundRect">
            <a:avLst>
              <a:gd name="adj" fmla="val 2687"/>
            </a:avLst>
          </a:prstGeom>
          <a:solidFill>
            <a:srgbClr val="10163A"/>
          </a:solidFill>
          <a:ln/>
          <a:effectLst>
            <a:outerShdw sx="100000" sy="100000" kx="0" ky="0" algn="bl" rotWithShape="0" blurRad="127000" dist="50800" dir="5400000">
              <a:srgbClr val="0B0E24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74520"/>
            <a:ext cx="7818120" cy="365760"/>
          </a:xfrm>
          <a:prstGeom prst="roundRect">
            <a:avLst>
              <a:gd name="adj" fmla="val 22500"/>
            </a:avLst>
          </a:prstGeom>
          <a:solidFill>
            <a:srgbClr val="1B235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057400"/>
            <a:ext cx="7818120" cy="182880"/>
          </a:xfrm>
          <a:prstGeom prst="rect">
            <a:avLst/>
          </a:prstGeom>
          <a:solidFill>
            <a:srgbClr val="1B2354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" y="2002536"/>
            <a:ext cx="109728" cy="109728"/>
          </a:xfrm>
          <a:prstGeom prst="ellipse">
            <a:avLst/>
          </a:prstGeom>
          <a:solidFill>
            <a:srgbClr val="F2685C"/>
          </a:solidFill>
          <a:ln/>
        </p:spPr>
      </p:sp>
      <p:sp>
        <p:nvSpPr>
          <p:cNvPr id="9" name="Shape 7"/>
          <p:cNvSpPr/>
          <p:nvPr/>
        </p:nvSpPr>
        <p:spPr>
          <a:xfrm>
            <a:off x="987552" y="2002536"/>
            <a:ext cx="109728" cy="109728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0" name="Shape 8"/>
          <p:cNvSpPr/>
          <p:nvPr/>
        </p:nvSpPr>
        <p:spPr>
          <a:xfrm>
            <a:off x="1225296" y="2002536"/>
            <a:ext cx="109728" cy="109728"/>
          </a:xfrm>
          <a:prstGeom prst="ellipse">
            <a:avLst/>
          </a:prstGeom>
          <a:solidFill>
            <a:srgbClr val="5FD06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1874520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Main.java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2350008"/>
            <a:ext cx="7360920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</a:t>
            </a:r>
            <a:pPr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</a:t>
            </a:r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</a:t>
            </a:r>
            <a:pPr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</a:t>
            </a:r>
            <a:pPr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</a:t>
            </a:r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main(String[] args) {</a:t>
            </a: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Lingkaran</a:t>
            </a:r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lingkaran = </a:t>
            </a:r>
            <a:pPr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</a:t>
            </a:r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Lingkaran</a:t>
            </a:r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</a:t>
            </a:r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8FD6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"Keliling: "</a:t>
            </a:r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lingkaran.keliling());</a:t>
            </a: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</a:t>
            </a:r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8FD6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"Luas: "</a:t>
            </a:r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lingkaran.luas());</a:t>
            </a: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212080"/>
            <a:ext cx="3657600" cy="1234440"/>
          </a:xfrm>
          <a:prstGeom prst="roundRect">
            <a:avLst>
              <a:gd name="adj" fmla="val 5926"/>
            </a:avLst>
          </a:prstGeom>
          <a:solidFill>
            <a:srgbClr val="F3F6F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5349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Buat Objek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568756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Lingkaran(7) memanggil konstruktor dengan jariJari = 7.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480560" y="5212080"/>
            <a:ext cx="3657600" cy="1234440"/>
          </a:xfrm>
          <a:prstGeom prst="roundRect">
            <a:avLst>
              <a:gd name="adj" fmla="val 5926"/>
            </a:avLst>
          </a:prstGeom>
          <a:solidFill>
            <a:srgbClr val="F3F6F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709160" y="5349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Panggil Metode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709160" y="568756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lingkaran.keliling() dan lingkaran.luas() dijalankan pada objek tersebut.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4572000" cy="4572000"/>
          </a:xfrm>
          <a:prstGeom prst="ellipse">
            <a:avLst/>
          </a:prstGeom>
          <a:solidFill>
            <a:srgbClr val="1E2761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389120"/>
            <a:ext cx="4114800" cy="4114800"/>
          </a:xfrm>
          <a:prstGeom prst="ellipse">
            <a:avLst/>
          </a:prstGeom>
          <a:solidFill>
            <a:srgbClr val="1E2761">
              <a:alpha val="7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EKSEKUSI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144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Program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jariJari = 7, program menghasilkan: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577840" cy="1737360"/>
          </a:xfrm>
          <a:prstGeom prst="roundRect">
            <a:avLst>
              <a:gd name="adj" fmla="val 4737"/>
            </a:avLst>
          </a:prstGeom>
          <a:solidFill>
            <a:srgbClr val="10163A"/>
          </a:solidFill>
          <a:ln/>
          <a:effectLst>
            <a:outerShdw sx="100000" sy="100000" kx="0" ky="0" algn="bl" rotWithShape="0" blurRad="127000" dist="50800" dir="5400000">
              <a:srgbClr val="0B0E24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103120"/>
            <a:ext cx="5577840" cy="365760"/>
          </a:xfrm>
          <a:prstGeom prst="roundRect">
            <a:avLst>
              <a:gd name="adj" fmla="val 22500"/>
            </a:avLst>
          </a:prstGeom>
          <a:solidFill>
            <a:srgbClr val="1B235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286000"/>
            <a:ext cx="5577840" cy="182880"/>
          </a:xfrm>
          <a:prstGeom prst="rect">
            <a:avLst/>
          </a:prstGeom>
          <a:solidFill>
            <a:srgbClr val="1B2354"/>
          </a:solidFill>
          <a:ln/>
        </p:spPr>
      </p:sp>
      <p:sp>
        <p:nvSpPr>
          <p:cNvPr id="10" name="Shape 8"/>
          <p:cNvSpPr/>
          <p:nvPr/>
        </p:nvSpPr>
        <p:spPr>
          <a:xfrm>
            <a:off x="749808" y="2231136"/>
            <a:ext cx="109728" cy="109728"/>
          </a:xfrm>
          <a:prstGeom prst="ellipse">
            <a:avLst/>
          </a:prstGeom>
          <a:solidFill>
            <a:srgbClr val="F2685C"/>
          </a:solidFill>
          <a:ln/>
        </p:spPr>
      </p:sp>
      <p:sp>
        <p:nvSpPr>
          <p:cNvPr id="11" name="Shape 9"/>
          <p:cNvSpPr/>
          <p:nvPr/>
        </p:nvSpPr>
        <p:spPr>
          <a:xfrm>
            <a:off x="987552" y="2231136"/>
            <a:ext cx="109728" cy="109728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2" name="Shape 10"/>
          <p:cNvSpPr/>
          <p:nvPr/>
        </p:nvSpPr>
        <p:spPr>
          <a:xfrm>
            <a:off x="1225296" y="2231136"/>
            <a:ext cx="109728" cy="109728"/>
          </a:xfrm>
          <a:prstGeom prst="ellipse">
            <a:avLst/>
          </a:prstGeom>
          <a:solidFill>
            <a:srgbClr val="5FD06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21031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2578608"/>
            <a:ext cx="5120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Keliling: </a:t>
            </a:r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43.982297150257104</a:t>
            </a: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Luas: </a:t>
            </a:r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153.93804002589985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11480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Keliling = 2 × π × 7 </a:t>
            </a:r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43.98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4348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Luas = π × 7² </a:t>
            </a:r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153.94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2103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Program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37960" y="2560320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3796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086600" y="253288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 lingkaran dibuat lewat konstruktor Lingkaran(7)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37960" y="3218688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3796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319125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 keliling() dipanggil dan mengembalikan nilai double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37960" y="3877056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37960" y="3877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086600" y="384962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 luas() dipanggil dan mengembalikan nilai double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37960" y="4535424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537960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086600" y="450799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Kedua nilai dicetak ke layar dengan System.out.println()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2026-08-31T22:26:54Z</dcterms:created>
  <dcterms:modified xsi:type="dcterms:W3CDTF">2026-08-31T22:26:54Z</dcterms:modified>
</cp:coreProperties>
</file>