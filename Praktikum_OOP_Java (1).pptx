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566928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8720C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PRAKTIKUM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Berorientasi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 dengan Java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instalasi lingkungan pengembangan (IDE) hingga membangun kelas dan objek pertama Anda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2011680" cy="0"/>
          </a:xfrm>
          <a:prstGeom prst="line">
            <a:avLst/>
          </a:prstGeom>
          <a:noFill/>
          <a:ln w="25400">
            <a:solidFill>
              <a:srgbClr val="E872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Studio Code  •  JDK 21 LTS  •  Windows 11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Akan Kita Pelajari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02336" cy="40233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25296" y="163677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Dasar OOP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25296" y="198424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empat pilar object oriented programming secara singkat.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402336" cy="40233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31736" y="163677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Menyiapkan Lingkungan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031736" y="198424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JDK 21 LTS, Visual Studio Code, dan ekstensi Java di Windows 11.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402336" cy="40233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25296" y="284378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&amp; Program Pertama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25296" y="319125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struktur project dan menjalankan program Hello World.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46520" y="2898648"/>
            <a:ext cx="402336" cy="40233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31736" y="284378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Kelas, Atribut &amp; Method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031736" y="319125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pembuatan kelas beserta anggotanya di Java.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40080" y="4105656"/>
            <a:ext cx="402336" cy="40233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25296" y="40507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 &amp; Objek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25296" y="439826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objek nyata dari sebuah kelas (instantiation).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46520" y="4105656"/>
            <a:ext cx="402336" cy="40233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31736" y="40507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Enkapsulasi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031736" y="439826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private field dengan getter dan setter.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40080" y="5312664"/>
            <a:ext cx="402336" cy="40233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225296" y="5257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Pengguna dengan Scanner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225296" y="560527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data dari keyboard untuk program interaktif.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446520" y="5312664"/>
            <a:ext cx="402336" cy="40233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31736" y="5257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Kasus: Volume Balok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031736" y="560527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program lengkap menghitung volume balok dari input pengguna.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Object Oriented Programming?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adalah paradigma pemrograman yang membungkus data dan perilaku ke dalam satu unit bernama objek — dibangun dari cetakan yang disebut kelas.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606040"/>
            <a:ext cx="502920" cy="50292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326440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70332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Menyembunyikan detail data di dalam kelas dan mengaksesnya lewat method.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38144" y="233172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606040"/>
            <a:ext cx="502920" cy="502920"/>
          </a:xfrm>
          <a:prstGeom prst="ellipse">
            <a:avLst/>
          </a:prstGeom>
          <a:solidFill>
            <a:srgbClr val="2E5B8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9312" y="326440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9312" y="370332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baru dapat mewarisi atribut dan method dari kelas lain.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6208" y="233172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5664" y="2606040"/>
            <a:ext cx="502920" cy="502920"/>
          </a:xfrm>
          <a:prstGeom prst="ellipse">
            <a:avLst/>
          </a:prstGeom>
          <a:solidFill>
            <a:srgbClr val="B85A08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37376" y="326440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7376" y="370332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method dapat berperilaku berbeda tergantung objeknya.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34272" y="233172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53728" y="2606040"/>
            <a:ext cx="502920" cy="502920"/>
          </a:xfrm>
          <a:prstGeom prst="ellipse">
            <a:avLst/>
          </a:prstGeom>
          <a:solidFill>
            <a:srgbClr val="5B4636"/>
          </a:solidFill>
          <a:ln/>
        </p:spPr>
      </p:sp>
      <p:sp>
        <p:nvSpPr>
          <p:cNvPr id="22" name="Text 20"/>
          <p:cNvSpPr/>
          <p:nvPr/>
        </p:nvSpPr>
        <p:spPr>
          <a:xfrm>
            <a:off x="925372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35440" y="326440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35440" y="370332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hal penting saja dan menyembunyikan detail rumit.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LINGKUNGAN · LANGKAH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Instalasi Java Development Kit (JDK)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berisi compiler (javac) dan runtime (java) yang dibutuhkan Visual Studio Code untuk menjalankan kode Java. Modul ini menggunakan JDK 21 (LTS) di Windows 11.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70432" y="2377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Unduh JDK 21 LTS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70432" y="26974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Unduh installer .msi JDK 21 (mis. Oracle JDK atau Eclipse Temurin) untuk Windows x64.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40080" y="3593592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70432" y="35478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Jalankan installer .msi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70432" y="386791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Ikuti wizard instalasi; biarkan opsi "Set JAVA_HOME variable" tetap aktif jika tersedia.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40080" y="4764024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70432" y="471830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Verifikasi di Command Prompt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70432" y="5038344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Command Prompt / PowerShell lalu jalankan perintah di samping untuk memastikan JDK terpasang.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995160" y="1417320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1B140E"/>
          </a:solidFill>
          <a:ln w="12700">
            <a:solidFill>
              <a:srgbClr val="3A2C1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1417320"/>
            <a:ext cx="4572000" cy="329184"/>
          </a:xfrm>
          <a:prstGeom prst="roundRect">
            <a:avLst>
              <a:gd name="adj" fmla="val 22222"/>
            </a:avLst>
          </a:prstGeom>
          <a:solidFill>
            <a:srgbClr val="2A2015"/>
          </a:solidFill>
          <a:ln/>
        </p:spPr>
      </p:sp>
      <p:sp>
        <p:nvSpPr>
          <p:cNvPr id="19" name="Shape 17"/>
          <p:cNvSpPr/>
          <p:nvPr/>
        </p:nvSpPr>
        <p:spPr>
          <a:xfrm>
            <a:off x="6995160" y="1581912"/>
            <a:ext cx="4572000" cy="164592"/>
          </a:xfrm>
          <a:prstGeom prst="rect">
            <a:avLst/>
          </a:prstGeom>
          <a:solidFill>
            <a:srgbClr val="2A2015"/>
          </a:solidFill>
          <a:ln/>
        </p:spPr>
      </p:sp>
      <p:sp>
        <p:nvSpPr>
          <p:cNvPr id="20" name="Shape 18"/>
          <p:cNvSpPr/>
          <p:nvPr/>
        </p:nvSpPr>
        <p:spPr>
          <a:xfrm>
            <a:off x="7141464" y="1527048"/>
            <a:ext cx="109728" cy="10972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42632" y="1527048"/>
            <a:ext cx="109728" cy="109728"/>
          </a:xfrm>
          <a:prstGeom prst="ellipse">
            <a:avLst/>
          </a:prstGeom>
          <a:solidFill>
            <a:srgbClr val="D8C39A"/>
          </a:solidFill>
          <a:ln/>
        </p:spPr>
      </p:sp>
      <p:sp>
        <p:nvSpPr>
          <p:cNvPr id="22" name="Shape 20"/>
          <p:cNvSpPr/>
          <p:nvPr/>
        </p:nvSpPr>
        <p:spPr>
          <a:xfrm>
            <a:off x="7543800" y="1527048"/>
            <a:ext cx="109728" cy="109728"/>
          </a:xfrm>
          <a:prstGeom prst="ellipse">
            <a:avLst/>
          </a:prstGeom>
          <a:solidFill>
            <a:srgbClr val="7A6A57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141732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Prompt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1874520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C:\Users\Praktikan&gt; </a:t>
            </a:r>
            <a:pPr indent="0" marL="0">
              <a:buNone/>
            </a:pPr>
            <a:r>
              <a:rPr lang="en-US" sz="11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-version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0" y="2157984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</a:t>
            </a:r>
            <a:pPr indent="0" marL="0">
              <a:buNone/>
            </a:pPr>
            <a:r>
              <a:rPr lang="en-US" sz="115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21.0.9 2025-10-21 LTS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0" y="2441448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Java(TM) SE Runtime Environment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15200" y="2724912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(build 21.0.9+7-LTS-338)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0" y="3008376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HotSpot(TM) 64-Bit Server VM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0" y="3291840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(build 21.0.9+7-LTS-338, mixed mode)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995160" y="3931920"/>
            <a:ext cx="4572000" cy="1783080"/>
          </a:xfrm>
          <a:prstGeom prst="roundRect">
            <a:avLst>
              <a:gd name="adj" fmla="val 5128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4096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Penting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4443984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muncul pesan </a:t>
            </a:r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B85A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'java' is not recognized</a:t>
            </a:r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tambahkan folder bin JDK ke Environment Variable PATH lewat System Properties, lalu buka ulang terminal.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LINGKUNGAN · LANGKAH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Instalasi Visual Studio Code &amp; Ekstensi Java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2E5B8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Visual Studio 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358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kode ringan dan gratis dari Microsoft, dasar sebelum menambahkan dukungan Java.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→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Kunjungi code.visualstudio.com</a:t>
            </a:r>
            <a:endParaRPr lang="en-US" sz="1200" dirty="0"/>
          </a:p>
          <a:p>
            <a:pPr marL="228600" indent="-228600">
              <a:lnSpc>
                <a:spcPct val="135000"/>
              </a:lnSpc>
              <a:buSzPct val="100000"/>
              <a:buChar char="→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Unduh installer System Installer (.exe) untuk Windows 11 64-bit</a:t>
            </a:r>
            <a:endParaRPr lang="en-US" sz="1200" dirty="0"/>
          </a:p>
          <a:p>
            <a:pPr marL="228600" indent="-228600">
              <a:lnSpc>
                <a:spcPct val="135000"/>
              </a:lnSpc>
              <a:buSzPct val="100000"/>
              <a:buChar char="→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installer, centang "Add to PATH"</a:t>
            </a:r>
            <a:endParaRPr lang="en-US" sz="1200" dirty="0"/>
          </a:p>
          <a:p>
            <a:pPr marL="228600" indent="-228600">
              <a:lnSpc>
                <a:spcPct val="135000"/>
              </a:lnSpc>
              <a:buSzPct val="100000"/>
              <a:buChar char="→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aplikasi Visual Studio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Pasang Extension Pack for Java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30358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Kumpulan ekstensi resmi Microsoft yang membuat VS Code memahami dan menjalankan kode Java.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7033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→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tab Extensions (ikon kotak di sidebar kiri)</a:t>
            </a:r>
            <a:endParaRPr lang="en-US" sz="1200" dirty="0"/>
          </a:p>
          <a:p>
            <a:pPr marL="228600" indent="-228600">
              <a:lnSpc>
                <a:spcPct val="135000"/>
              </a:lnSpc>
              <a:buSzPct val="100000"/>
              <a:buChar char="→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"Extension Pack for Java" oleh Microsoft</a:t>
            </a:r>
            <a:endParaRPr lang="en-US" sz="1200" dirty="0"/>
          </a:p>
          <a:p>
            <a:pPr marL="228600" indent="-228600">
              <a:lnSpc>
                <a:spcPct val="135000"/>
              </a:lnSpc>
              <a:buSzPct val="100000"/>
              <a:buChar char="→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Install — otomatis memasang Language Support, Debugger, Test Runner, Maven, dan Project Manager for Java</a:t>
            </a:r>
            <a:endParaRPr lang="en-US" sz="1200" dirty="0"/>
          </a:p>
          <a:p>
            <a:pPr marL="228600" indent="-228600">
              <a:lnSpc>
                <a:spcPct val="135000"/>
              </a:lnSpc>
              <a:buSzPct val="100000"/>
              <a:buChar char="→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VS Code setelah instalasi selesai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LINGKUNGAN · LANGKAH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Project Java Pertama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70432" y="16550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Buka Command Palette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70432" y="198424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 Ctrl+Shift+P, lalu ketik "Java: Create Java Project".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70432" y="27706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Pilih tipe project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70432" y="309981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No build tools untuk project sederhana tanpa Maven/Gradle.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22776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70432" y="3886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Tentukan folder &amp; nama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70432" y="421538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lokasi folder, beri nama project, misalnya BelajarOOP.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038344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70432" y="50017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otomatis dibuat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70432" y="533095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membuat folder src untuk source code dan bin untuk hasil kompilasi.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691640"/>
            <a:ext cx="4617720" cy="4480560"/>
          </a:xfrm>
          <a:prstGeom prst="roundRect">
            <a:avLst>
              <a:gd name="adj" fmla="val 2041"/>
            </a:avLst>
          </a:prstGeom>
          <a:solidFill>
            <a:srgbClr val="20160F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9476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FOLDER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2468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BelajarOOP/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35240" y="28712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C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src/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0" y="3273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☕ Main.java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55280" y="36758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☕ Mahasiswa.java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55280" y="40782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☕ Balok.java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35240" y="4480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C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bin/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55280" y="48828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⚙ Main.class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35240" y="5285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README.md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PERTAMA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Menjalankan Program Hello World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Run yang muncul di atas method main, atau tekan tombol Run Java pada pojok kanan atas editor.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disimpan sebagai Main.java di dalam folder src</a:t>
            </a:r>
            <a:endParaRPr lang="en-US" sz="115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file harus sama persis dengan nama kelas public</a:t>
            </a:r>
            <a:endParaRPr lang="en-US" sz="115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main() adalah pintu masuk (entry point) program Java</a:t>
            </a:r>
            <a:endParaRPr lang="en-US" sz="115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akan tampil di panel TERMINAL bagian bawah VS Code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2648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B140E"/>
          </a:solidFill>
          <a:ln w="12700">
            <a:solidFill>
              <a:srgbClr val="3A2C1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0" y="1417320"/>
            <a:ext cx="5440680" cy="329184"/>
          </a:xfrm>
          <a:prstGeom prst="roundRect">
            <a:avLst>
              <a:gd name="adj" fmla="val 22222"/>
            </a:avLst>
          </a:prstGeom>
          <a:solidFill>
            <a:srgbClr val="2A2015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0" y="1581912"/>
            <a:ext cx="5440680" cy="164592"/>
          </a:xfrm>
          <a:prstGeom prst="rect">
            <a:avLst/>
          </a:prstGeom>
          <a:solidFill>
            <a:srgbClr val="2A2015"/>
          </a:solidFill>
          <a:ln/>
        </p:spPr>
      </p:sp>
      <p:sp>
        <p:nvSpPr>
          <p:cNvPr id="9" name="Shape 7"/>
          <p:cNvSpPr/>
          <p:nvPr/>
        </p:nvSpPr>
        <p:spPr>
          <a:xfrm>
            <a:off x="6272784" y="1527048"/>
            <a:ext cx="109728" cy="10972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0" name="Shape 8"/>
          <p:cNvSpPr/>
          <p:nvPr/>
        </p:nvSpPr>
        <p:spPr>
          <a:xfrm>
            <a:off x="6473952" y="1527048"/>
            <a:ext cx="109728" cy="109728"/>
          </a:xfrm>
          <a:prstGeom prst="ellipse">
            <a:avLst/>
          </a:prstGeom>
          <a:solidFill>
            <a:srgbClr val="D8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1527048"/>
            <a:ext cx="109728" cy="109728"/>
          </a:xfrm>
          <a:prstGeom prst="ellipse">
            <a:avLst/>
          </a:prstGeom>
          <a:solidFill>
            <a:srgbClr val="7A6A57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417320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Editor.java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1874520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buNone/>
            </a:pPr>
            <a:r>
              <a:rPr lang="en-US" sz="12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25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</a:t>
            </a:r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2157984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</a:t>
            </a:r>
            <a:pPr indent="0" marL="0">
              <a:buNone/>
            </a:pPr>
            <a:r>
              <a:rPr lang="en-US" sz="125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(String[] args) {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2441448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2724912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C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"Halo, dunia Java!"</a:t>
            </a:r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3008376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3291840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9776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1B140E"/>
          </a:solidFill>
          <a:ln w="12700">
            <a:solidFill>
              <a:srgbClr val="3A2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D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Halo, dunia Java!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INTI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Kelas vs Objek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adalah cetak biru (blueprint); objek adalah bentuk nyata yang dibuat dari cetakan tersebut.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Cetakan yang mendefinisikan atribut apa saja yang dimiliki dan apa saja yang bisa dilakukan.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nama : String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4988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nim : String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48828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ipk : double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52669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tampilkanData() : void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20160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 (INSTANCE)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286207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nyata dari kelas Mahasiswa — bisa dibuat lebih dari satu, masing-masing dengan data sendiri.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29400" y="374904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2A2015"/>
          </a:solidFill>
          <a:ln w="12700">
            <a:solidFill>
              <a:srgbClr val="4433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mhs1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12280" y="415137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 = "Sinta", nim = "2201", ipk = 3.8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484632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2A2015"/>
          </a:solidFill>
          <a:ln w="12700">
            <a:solidFill>
              <a:srgbClr val="4433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4937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mhs2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12280" y="52486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 = "Budi", nim = "2202", ipk = 3.4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Kelas di 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Diawali kata kunci class diikuti nama kelas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kelas ditulis PascalCase, contoh: Mahasiswa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kelas diletakkan di dalam kurung kurawal { }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file public class → nama file harus sama dengan nama kelas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5544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1B140E"/>
          </a:solidFill>
          <a:ln w="12700">
            <a:solidFill>
              <a:srgbClr val="3A2C1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0" y="1554480"/>
            <a:ext cx="5440680" cy="329184"/>
          </a:xfrm>
          <a:prstGeom prst="roundRect">
            <a:avLst>
              <a:gd name="adj" fmla="val 22222"/>
            </a:avLst>
          </a:prstGeom>
          <a:solidFill>
            <a:srgbClr val="2A2015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1719072"/>
            <a:ext cx="5440680" cy="164592"/>
          </a:xfrm>
          <a:prstGeom prst="rect">
            <a:avLst/>
          </a:prstGeom>
          <a:solidFill>
            <a:srgbClr val="2A2015"/>
          </a:solidFill>
          <a:ln/>
        </p:spPr>
      </p:sp>
      <p:sp>
        <p:nvSpPr>
          <p:cNvPr id="8" name="Shape 6"/>
          <p:cNvSpPr/>
          <p:nvPr/>
        </p:nvSpPr>
        <p:spPr>
          <a:xfrm>
            <a:off x="6272784" y="1664208"/>
            <a:ext cx="109728" cy="10972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9" name="Shape 7"/>
          <p:cNvSpPr/>
          <p:nvPr/>
        </p:nvSpPr>
        <p:spPr>
          <a:xfrm>
            <a:off x="6473952" y="1664208"/>
            <a:ext cx="109728" cy="109728"/>
          </a:xfrm>
          <a:prstGeom prst="ellipse">
            <a:avLst/>
          </a:prstGeom>
          <a:solidFill>
            <a:srgbClr val="D8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664208"/>
            <a:ext cx="109728" cy="109728"/>
          </a:xfrm>
          <a:prstGeom prst="ellipse">
            <a:avLst/>
          </a:prstGeom>
          <a:solidFill>
            <a:srgbClr val="7A6A57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554480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buNone/>
            </a:pPr>
            <a:r>
              <a:rPr lang="en-US" sz="13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35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 </a:t>
            </a:r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2286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560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8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atribut / field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nama;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46520" y="31089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nim;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6520" y="33832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ipk;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39319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8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di sinilah method akan ditambahkan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4206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KELAS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 dan Method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470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 (Field)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yang menyimpan data / keadaan sebuah objek.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nama;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ipk;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470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(Fungsi)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kode yang mendefinisikan perilaku / aksi objek.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tampilkanData() {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652760" cy="2514600"/>
          </a:xfrm>
          <a:prstGeom prst="roundRect">
            <a:avLst>
              <a:gd name="adj" fmla="val 2909"/>
            </a:avLst>
          </a:prstGeom>
          <a:solidFill>
            <a:srgbClr val="1B140E"/>
          </a:solidFill>
          <a:ln w="12700">
            <a:solidFill>
              <a:srgbClr val="3A2C1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840480"/>
            <a:ext cx="10652760" cy="329184"/>
          </a:xfrm>
          <a:prstGeom prst="roundRect">
            <a:avLst>
              <a:gd name="adj" fmla="val 22222"/>
            </a:avLst>
          </a:prstGeom>
          <a:solidFill>
            <a:srgbClr val="2A201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005072"/>
            <a:ext cx="10652760" cy="164592"/>
          </a:xfrm>
          <a:prstGeom prst="rect">
            <a:avLst/>
          </a:prstGeom>
          <a:solidFill>
            <a:srgbClr val="2A2015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" y="3950208"/>
            <a:ext cx="109728" cy="10972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" y="3950208"/>
            <a:ext cx="109728" cy="109728"/>
          </a:xfrm>
          <a:prstGeom prst="ellipse">
            <a:avLst/>
          </a:prstGeom>
          <a:solidFill>
            <a:srgbClr val="D8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3950208"/>
            <a:ext cx="109728" cy="109728"/>
          </a:xfrm>
          <a:prstGeom prst="ellipse">
            <a:avLst/>
          </a:prstGeom>
          <a:solidFill>
            <a:srgbClr val="7A6A57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3840480"/>
            <a:ext cx="9646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Mahasiswa.java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297680"/>
            <a:ext cx="10104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buNone/>
            </a:pPr>
            <a:r>
              <a:rPr lang="en-US" sz="12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25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 </a:t>
            </a:r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4544568"/>
            <a:ext cx="10104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nama;</a:t>
            </a:r>
            <a:pPr indent="0" marL="0">
              <a:buNone/>
            </a:pPr>
            <a:r>
              <a:rPr lang="en-US" sz="1250" dirty="0">
                <a:solidFill>
                  <a:srgbClr val="6E8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// atribut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4791456"/>
            <a:ext cx="10104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ipk;</a:t>
            </a:r>
            <a:pPr indent="0" marL="0">
              <a:buNone/>
            </a:pPr>
            <a:r>
              <a:rPr lang="en-US" sz="1250" dirty="0">
                <a:solidFill>
                  <a:srgbClr val="6E8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// atribut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5038344"/>
            <a:ext cx="10104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0120" y="5285232"/>
            <a:ext cx="10104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</a:t>
            </a:r>
            <a:pPr indent="0" marL="0">
              <a:buNone/>
            </a:pPr>
            <a:r>
              <a:rPr lang="en-US" sz="125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tampilkanData</a:t>
            </a:r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pPr indent="0" marL="0">
              <a:buNone/>
            </a:pPr>
            <a:r>
              <a:rPr lang="en-US" sz="1250" dirty="0">
                <a:solidFill>
                  <a:srgbClr val="6E8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// method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" y="5532120"/>
            <a:ext cx="10104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System.out.println(nama + </a:t>
            </a:r>
            <a:pPr indent="0" marL="0">
              <a:buNone/>
            </a:pPr>
            <a:r>
              <a:rPr lang="en-US" sz="1250" dirty="0">
                <a:solidFill>
                  <a:srgbClr val="F0C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- " </a:t>
            </a:r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ipk);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0120" y="5779008"/>
            <a:ext cx="10104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60120" y="6025896"/>
            <a:ext cx="10104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KELAS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khusus yang otomatis dipanggil saat objek dibuat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constructor harus sama persis dengan nama kelas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memiliki tipe kembalian (bahkan bukan void)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Berguna untuk mengisi nilai awal atribut objek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554480"/>
            <a:ext cx="5440680" cy="3520440"/>
          </a:xfrm>
          <a:prstGeom prst="roundRect">
            <a:avLst>
              <a:gd name="adj" fmla="val 2078"/>
            </a:avLst>
          </a:prstGeom>
          <a:solidFill>
            <a:srgbClr val="1B140E"/>
          </a:solidFill>
          <a:ln w="12700">
            <a:solidFill>
              <a:srgbClr val="3A2C1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0" y="1554480"/>
            <a:ext cx="5440680" cy="329184"/>
          </a:xfrm>
          <a:prstGeom prst="roundRect">
            <a:avLst>
              <a:gd name="adj" fmla="val 22222"/>
            </a:avLst>
          </a:prstGeom>
          <a:solidFill>
            <a:srgbClr val="2A2015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1719072"/>
            <a:ext cx="5440680" cy="164592"/>
          </a:xfrm>
          <a:prstGeom prst="rect">
            <a:avLst/>
          </a:prstGeom>
          <a:solidFill>
            <a:srgbClr val="2A2015"/>
          </a:solidFill>
          <a:ln/>
        </p:spPr>
      </p:sp>
      <p:sp>
        <p:nvSpPr>
          <p:cNvPr id="8" name="Shape 6"/>
          <p:cNvSpPr/>
          <p:nvPr/>
        </p:nvSpPr>
        <p:spPr>
          <a:xfrm>
            <a:off x="6272784" y="1664208"/>
            <a:ext cx="109728" cy="10972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9" name="Shape 7"/>
          <p:cNvSpPr/>
          <p:nvPr/>
        </p:nvSpPr>
        <p:spPr>
          <a:xfrm>
            <a:off x="6473952" y="1664208"/>
            <a:ext cx="109728" cy="109728"/>
          </a:xfrm>
          <a:prstGeom prst="ellipse">
            <a:avLst/>
          </a:prstGeom>
          <a:solidFill>
            <a:srgbClr val="D8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664208"/>
            <a:ext cx="109728" cy="109728"/>
          </a:xfrm>
          <a:prstGeom prst="ellipse">
            <a:avLst/>
          </a:prstGeom>
          <a:solidFill>
            <a:srgbClr val="7A6A57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554480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buNone/>
            </a:pPr>
            <a:r>
              <a:rPr lang="en-US" sz="13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35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 </a:t>
            </a:r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2295144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nama;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578608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nim;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46520" y="2862072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46520" y="3145536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8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constructor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6520" y="3429000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Mahasiswa</a:t>
            </a:r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n, String id) {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3712464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nama = n;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3995928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nim  = id;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4279392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46520" y="4562856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Objek dari Kelas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kunci new mengalokasikan memori dan memanggil constructor untuk membentuk objek baru.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652760" cy="1737360"/>
          </a:xfrm>
          <a:prstGeom prst="roundRect">
            <a:avLst>
              <a:gd name="adj" fmla="val 4211"/>
            </a:avLst>
          </a:prstGeom>
          <a:solidFill>
            <a:srgbClr val="1B140E"/>
          </a:solidFill>
          <a:ln w="12700">
            <a:solidFill>
              <a:srgbClr val="3A2C1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10652760" cy="329184"/>
          </a:xfrm>
          <a:prstGeom prst="roundRect">
            <a:avLst>
              <a:gd name="adj" fmla="val 22222"/>
            </a:avLst>
          </a:prstGeom>
          <a:solidFill>
            <a:srgbClr val="2A201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67712"/>
            <a:ext cx="10652760" cy="164592"/>
          </a:xfrm>
          <a:prstGeom prst="rect">
            <a:avLst/>
          </a:prstGeom>
          <a:solidFill>
            <a:srgbClr val="2A2015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2212848"/>
            <a:ext cx="109728" cy="10972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2212848"/>
            <a:ext cx="109728" cy="109728"/>
          </a:xfrm>
          <a:prstGeom prst="ellipse">
            <a:avLst/>
          </a:prstGeom>
          <a:solidFill>
            <a:srgbClr val="D8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212848"/>
            <a:ext cx="109728" cy="109728"/>
          </a:xfrm>
          <a:prstGeom prst="ellipse">
            <a:avLst/>
          </a:prstGeom>
          <a:solidFill>
            <a:srgbClr val="7A6A57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103120"/>
            <a:ext cx="9646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560320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void </a:t>
            </a:r>
            <a:pPr indent="0" marL="0">
              <a:buNone/>
            </a:pPr>
            <a:r>
              <a:rPr lang="en-US" sz="135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(String[] args) {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2871216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Mahasiswa </a:t>
            </a:r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mhs1 </a:t>
            </a:r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13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35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</a:t>
            </a:r>
            <a:pPr indent="0" marL="0">
              <a:buNone/>
            </a:pPr>
            <a:r>
              <a:rPr lang="en-US" sz="1350" dirty="0">
                <a:solidFill>
                  <a:srgbClr val="F0C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("Sinta", "2201");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3182112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mhs1.tampilkanData();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3493008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480560"/>
            <a:ext cx="137160" cy="137160"/>
          </a:xfrm>
          <a:prstGeom prst="ellipse">
            <a:avLst/>
          </a:prstGeom>
          <a:solidFill>
            <a:srgbClr val="2E5B8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39826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496519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data objek — nama kelas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251960" y="425196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7992" y="4480560"/>
            <a:ext cx="137160" cy="13716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439826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mhs1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496519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variabel referensi objek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863840" y="425196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4480560"/>
            <a:ext cx="137160" cy="137160"/>
          </a:xfrm>
          <a:prstGeom prst="ellipse">
            <a:avLst/>
          </a:prstGeom>
          <a:solidFill>
            <a:srgbClr val="B85A08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439826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Mahasiswa(...)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38160" y="496519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membuat objek baru di memori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BAIK 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Enkapsulasi: Getter dan Setter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1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dibuat private agar tidak diakses langsung dari luar kelas</a:t>
            </a:r>
            <a:endParaRPr lang="en-US" sz="118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1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 — method untuk membaca nilai atribut</a:t>
            </a:r>
            <a:endParaRPr lang="en-US" sz="118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1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— method untuk mengubah nilai atribut secara terkontrol</a:t>
            </a:r>
            <a:endParaRPr lang="en-US" sz="118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18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Memudahkan validasi data sebelum tersimpan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6126480" y="141732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1B140E"/>
          </a:solidFill>
          <a:ln w="12700">
            <a:solidFill>
              <a:srgbClr val="3A2C1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0" y="1417320"/>
            <a:ext cx="5440680" cy="329184"/>
          </a:xfrm>
          <a:prstGeom prst="roundRect">
            <a:avLst>
              <a:gd name="adj" fmla="val 22222"/>
            </a:avLst>
          </a:prstGeom>
          <a:solidFill>
            <a:srgbClr val="2A2015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1581912"/>
            <a:ext cx="5440680" cy="164592"/>
          </a:xfrm>
          <a:prstGeom prst="rect">
            <a:avLst/>
          </a:prstGeom>
          <a:solidFill>
            <a:srgbClr val="2A2015"/>
          </a:solidFill>
          <a:ln/>
        </p:spPr>
      </p:sp>
      <p:sp>
        <p:nvSpPr>
          <p:cNvPr id="8" name="Shape 6"/>
          <p:cNvSpPr/>
          <p:nvPr/>
        </p:nvSpPr>
        <p:spPr>
          <a:xfrm>
            <a:off x="6272784" y="1527048"/>
            <a:ext cx="109728" cy="10972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9" name="Shape 7"/>
          <p:cNvSpPr/>
          <p:nvPr/>
        </p:nvSpPr>
        <p:spPr>
          <a:xfrm>
            <a:off x="6473952" y="1527048"/>
            <a:ext cx="109728" cy="109728"/>
          </a:xfrm>
          <a:prstGeom prst="ellipse">
            <a:avLst/>
          </a:prstGeom>
          <a:solidFill>
            <a:srgbClr val="D8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527048"/>
            <a:ext cx="109728" cy="109728"/>
          </a:xfrm>
          <a:prstGeom prst="ellipse">
            <a:avLst/>
          </a:prstGeom>
          <a:solidFill>
            <a:srgbClr val="7A6A57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417320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1874520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20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 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2121408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ipk;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368296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615184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8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862072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</a:t>
            </a:r>
            <a:pPr indent="0" marL="0">
              <a:buNone/>
            </a:pPr>
            <a:r>
              <a:rPr lang="en-US" sz="120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getIpk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108960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ipk;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355848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602736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849624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8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setter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4096512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</a:t>
            </a:r>
            <a:pPr indent="0" marL="0">
              <a:buNone/>
            </a:pPr>
            <a:r>
              <a:rPr lang="en-US" sz="120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setIpk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(double nilai) {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343400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(nilai &gt;= 0 &amp;&amp; nilai &lt;= 4) {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590288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ipk = nilai;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4837176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5084064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330952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INTERAKTIF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Membaca Input dari Keyboard dengan Scanner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Scanner berada di package java.util, sehingga perlu di-import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dihubungkan ke System.in agar bisa membaca dari keyboard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nextInt() dan nextDouble() membaca angka; nextLine() membaca teks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selesai, praktik baik memanggil sc.close()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554480"/>
            <a:ext cx="5440680" cy="3154680"/>
          </a:xfrm>
          <a:prstGeom prst="roundRect">
            <a:avLst>
              <a:gd name="adj" fmla="val 2319"/>
            </a:avLst>
          </a:prstGeom>
          <a:solidFill>
            <a:srgbClr val="1B140E"/>
          </a:solidFill>
          <a:ln w="12700">
            <a:solidFill>
              <a:srgbClr val="3A2C1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0" y="1554480"/>
            <a:ext cx="5440680" cy="329184"/>
          </a:xfrm>
          <a:prstGeom prst="roundRect">
            <a:avLst>
              <a:gd name="adj" fmla="val 22222"/>
            </a:avLst>
          </a:prstGeom>
          <a:solidFill>
            <a:srgbClr val="2A2015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1719072"/>
            <a:ext cx="5440680" cy="164592"/>
          </a:xfrm>
          <a:prstGeom prst="rect">
            <a:avLst/>
          </a:prstGeom>
          <a:solidFill>
            <a:srgbClr val="2A2015"/>
          </a:solidFill>
          <a:ln/>
        </p:spPr>
      </p:sp>
      <p:sp>
        <p:nvSpPr>
          <p:cNvPr id="8" name="Shape 6"/>
          <p:cNvSpPr/>
          <p:nvPr/>
        </p:nvSpPr>
        <p:spPr>
          <a:xfrm>
            <a:off x="6272784" y="1664208"/>
            <a:ext cx="109728" cy="10972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9" name="Shape 7"/>
          <p:cNvSpPr/>
          <p:nvPr/>
        </p:nvSpPr>
        <p:spPr>
          <a:xfrm>
            <a:off x="6473952" y="1664208"/>
            <a:ext cx="109728" cy="109728"/>
          </a:xfrm>
          <a:prstGeom prst="ellipse">
            <a:avLst/>
          </a:prstGeom>
          <a:solidFill>
            <a:srgbClr val="D8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664208"/>
            <a:ext cx="109728" cy="109728"/>
          </a:xfrm>
          <a:prstGeom prst="ellipse">
            <a:avLst/>
          </a:prstGeom>
          <a:solidFill>
            <a:srgbClr val="7A6A57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554480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ContohScanner.java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java.util.Scanner;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2318004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624328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 sc = </a:t>
            </a:r>
            <a:pPr indent="0" marL="0">
              <a:buNone/>
            </a:pPr>
            <a:r>
              <a:rPr lang="en-US" sz="13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35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(System.in);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46520" y="2930652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46520" y="3236976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System.out.print(</a:t>
            </a:r>
            <a:pPr indent="0" marL="0">
              <a:buNone/>
            </a:pPr>
            <a:r>
              <a:rPr lang="en-US" sz="1350" dirty="0">
                <a:solidFill>
                  <a:srgbClr val="F0C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"Umur: "</a:t>
            </a:r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6520" y="3543300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umur = sc.nextInt();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3849624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4155948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System.out.print(</a:t>
            </a:r>
            <a:pPr indent="0" marL="0">
              <a:buNone/>
            </a:pPr>
            <a:r>
              <a:rPr lang="en-US" sz="1350" dirty="0">
                <a:solidFill>
                  <a:srgbClr val="F0C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"Nama: "</a:t>
            </a:r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4462272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nama = sc.nextLine();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26480" y="4846320"/>
            <a:ext cx="5440680" cy="868680"/>
          </a:xfrm>
          <a:prstGeom prst="roundRect">
            <a:avLst>
              <a:gd name="adj" fmla="val 10526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93776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B85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tipe method yang sesuai dengan tipe data yang ingin dibaca (nextInt untuk int, nextDouble untuk double).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Kelas Balok: Atribut dan Method hitungVolume()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private: panjang, lebar, tinggi (bertipe double)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mengisi ketiga atribut sekaligus saat objek dibuat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hitungVolume() mengembalikan hasil panjang × lebar × tinggi</a:t>
            </a:r>
            <a:endParaRPr lang="en-US" sz="12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 volume balok tetap sama seperti pada matematika: V = p × l × 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20160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480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p × l × 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4983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9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balok dalam satuan kubik (mis. cm³) — hasil kali panjang, lebar, dan tinggi.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1B140E"/>
          </a:solidFill>
          <a:ln w="12700">
            <a:solidFill>
              <a:srgbClr val="3A2C1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554480"/>
            <a:ext cx="5440680" cy="329184"/>
          </a:xfrm>
          <a:prstGeom prst="roundRect">
            <a:avLst>
              <a:gd name="adj" fmla="val 22222"/>
            </a:avLst>
          </a:prstGeom>
          <a:solidFill>
            <a:srgbClr val="2A2015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1719072"/>
            <a:ext cx="5440680" cy="164592"/>
          </a:xfrm>
          <a:prstGeom prst="rect">
            <a:avLst/>
          </a:prstGeom>
          <a:solidFill>
            <a:srgbClr val="2A2015"/>
          </a:solidFill>
          <a:ln/>
        </p:spPr>
      </p:sp>
      <p:sp>
        <p:nvSpPr>
          <p:cNvPr id="11" name="Shape 9"/>
          <p:cNvSpPr/>
          <p:nvPr/>
        </p:nvSpPr>
        <p:spPr>
          <a:xfrm>
            <a:off x="6272784" y="1664208"/>
            <a:ext cx="109728" cy="10972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3952" y="1664208"/>
            <a:ext cx="109728" cy="109728"/>
          </a:xfrm>
          <a:prstGeom prst="ellipse">
            <a:avLst/>
          </a:prstGeom>
          <a:solidFill>
            <a:srgbClr val="D8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0" y="1664208"/>
            <a:ext cx="109728" cy="109728"/>
          </a:xfrm>
          <a:prstGeom prst="ellipse">
            <a:avLst/>
          </a:prstGeom>
          <a:solidFill>
            <a:srgbClr val="7A6A57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554480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Balok.java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20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Balok 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258568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panjang;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505456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lebar;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752344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tinggi;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2999232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246120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Balok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(double p, double l, double t) {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493008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panjang = p;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739896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lebar   = l;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3986784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tinggi  = t;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4233672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480560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4727448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</a:t>
            </a:r>
            <a:pPr indent="0" marL="0">
              <a:buNone/>
            </a:pPr>
            <a:r>
              <a:rPr lang="en-US" sz="120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hitungVolume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4974336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panjang * lebar * tinggi;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221224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5468112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Menghitung Volume Balok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 membaca tiga nilai dari pengguna, membuat objek Balok, lalu memanggil hitungVolume().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263640" cy="4343400"/>
          </a:xfrm>
          <a:prstGeom prst="roundRect">
            <a:avLst>
              <a:gd name="adj" fmla="val 1684"/>
            </a:avLst>
          </a:prstGeom>
          <a:solidFill>
            <a:srgbClr val="1B140E"/>
          </a:solidFill>
          <a:ln w="12700">
            <a:solidFill>
              <a:srgbClr val="3A2C1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6263640" cy="329184"/>
          </a:xfrm>
          <a:prstGeom prst="roundRect">
            <a:avLst>
              <a:gd name="adj" fmla="val 22222"/>
            </a:avLst>
          </a:prstGeom>
          <a:solidFill>
            <a:srgbClr val="2A201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39112"/>
            <a:ext cx="6263640" cy="164592"/>
          </a:xfrm>
          <a:prstGeom prst="rect">
            <a:avLst/>
          </a:prstGeom>
          <a:solidFill>
            <a:srgbClr val="2A2015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1984248"/>
            <a:ext cx="109728" cy="10972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1984248"/>
            <a:ext cx="109728" cy="109728"/>
          </a:xfrm>
          <a:prstGeom prst="ellipse">
            <a:avLst/>
          </a:prstGeom>
          <a:solidFill>
            <a:srgbClr val="D8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1984248"/>
            <a:ext cx="109728" cy="109728"/>
          </a:xfrm>
          <a:prstGeom prst="ellipse">
            <a:avLst/>
          </a:prstGeom>
          <a:solidFill>
            <a:srgbClr val="7A6A57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1874520"/>
            <a:ext cx="5257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31720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java.util.Scanner;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60120" y="2535631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60120" y="2739542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buNone/>
            </a:pPr>
            <a:r>
              <a:rPr lang="en-US" sz="108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08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60120" y="2943454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</a:t>
            </a:r>
            <a:pPr indent="0" marL="0">
              <a:buNone/>
            </a:pPr>
            <a:r>
              <a:rPr lang="en-US" sz="108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(String[] args) {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60120" y="3147365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Scanner sc = </a:t>
            </a:r>
            <a:pPr indent="0" marL="0">
              <a:buNone/>
            </a:pPr>
            <a:r>
              <a:rPr lang="en-US" sz="108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08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(System.in);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60120" y="3351276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960120" y="3555187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</a:t>
            </a:r>
            <a:pPr indent="0" marL="0">
              <a:buNone/>
            </a:pPr>
            <a:r>
              <a:rPr lang="en-US" sz="1080" dirty="0">
                <a:solidFill>
                  <a:srgbClr val="F0C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"Panjang (cm): "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60120" y="3759098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sc.nextDouble();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60120" y="3963010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</a:t>
            </a:r>
            <a:pPr indent="0" marL="0">
              <a:buNone/>
            </a:pPr>
            <a:r>
              <a:rPr lang="en-US" sz="1080" dirty="0">
                <a:solidFill>
                  <a:srgbClr val="F0C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"Lebar (cm): "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960120" y="4166921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sc.nextDouble();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960120" y="4370832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</a:t>
            </a:r>
            <a:pPr indent="0" marL="0">
              <a:buNone/>
            </a:pPr>
            <a:r>
              <a:rPr lang="en-US" sz="1080" dirty="0">
                <a:solidFill>
                  <a:srgbClr val="F0C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"Tinggi (cm): "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960120" y="4574743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sc.nextDouble();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960120" y="4778654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960120" y="4982566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Balok 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balok = </a:t>
            </a:r>
            <a:pPr indent="0" marL="0">
              <a:buNone/>
            </a:pPr>
            <a:r>
              <a:rPr lang="en-US" sz="1080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08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Balok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(p, l, t);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960120" y="5186477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pPr indent="0" marL="0">
              <a:buNone/>
            </a:pPr>
            <a:r>
              <a:rPr lang="en-US" sz="1080" dirty="0">
                <a:solidFill>
                  <a:srgbClr val="F0C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"Volume = " 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balok.hitungVolume()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960120" y="5390388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</a:t>
            </a:r>
            <a:pPr indent="0" marL="0">
              <a:buNone/>
            </a:pPr>
            <a:r>
              <a:rPr lang="en-US" sz="1080" dirty="0">
                <a:solidFill>
                  <a:srgbClr val="F0C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cm3"</a:t>
            </a:r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960120" y="5594299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sc.close();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60120" y="5798210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960120" y="6002122"/>
            <a:ext cx="5715000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7132320" y="1965960"/>
            <a:ext cx="4434840" cy="2788920"/>
          </a:xfrm>
          <a:prstGeom prst="roundRect">
            <a:avLst>
              <a:gd name="adj" fmla="val 2623"/>
            </a:avLst>
          </a:prstGeom>
          <a:solidFill>
            <a:srgbClr val="1B140E"/>
          </a:solidFill>
          <a:ln w="12700">
            <a:solidFill>
              <a:srgbClr val="3A2C1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0" y="1965960"/>
            <a:ext cx="4434840" cy="329184"/>
          </a:xfrm>
          <a:prstGeom prst="roundRect">
            <a:avLst>
              <a:gd name="adj" fmla="val 22222"/>
            </a:avLst>
          </a:prstGeom>
          <a:solidFill>
            <a:srgbClr val="2A2015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0" y="2130552"/>
            <a:ext cx="4434840" cy="164592"/>
          </a:xfrm>
          <a:prstGeom prst="rect">
            <a:avLst/>
          </a:prstGeom>
          <a:solidFill>
            <a:srgbClr val="2A2015"/>
          </a:solidFill>
          <a:ln/>
        </p:spPr>
      </p:sp>
      <p:sp>
        <p:nvSpPr>
          <p:cNvPr id="34" name="Shape 32"/>
          <p:cNvSpPr/>
          <p:nvPr/>
        </p:nvSpPr>
        <p:spPr>
          <a:xfrm>
            <a:off x="7278624" y="2075688"/>
            <a:ext cx="109728" cy="10972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5" name="Shape 33"/>
          <p:cNvSpPr/>
          <p:nvPr/>
        </p:nvSpPr>
        <p:spPr>
          <a:xfrm>
            <a:off x="7479792" y="2075688"/>
            <a:ext cx="109728" cy="109728"/>
          </a:xfrm>
          <a:prstGeom prst="ellipse">
            <a:avLst/>
          </a:prstGeom>
          <a:solidFill>
            <a:srgbClr val="D8C39A"/>
          </a:solidFill>
          <a:ln/>
        </p:spPr>
      </p:sp>
      <p:sp>
        <p:nvSpPr>
          <p:cNvPr id="36" name="Shape 34"/>
          <p:cNvSpPr/>
          <p:nvPr/>
        </p:nvSpPr>
        <p:spPr>
          <a:xfrm>
            <a:off x="7680960" y="2075688"/>
            <a:ext cx="109728" cy="109728"/>
          </a:xfrm>
          <a:prstGeom prst="ellipse">
            <a:avLst/>
          </a:prstGeom>
          <a:solidFill>
            <a:srgbClr val="7A6A57"/>
          </a:solidFill>
          <a:ln/>
        </p:spPr>
      </p:sp>
      <p:sp>
        <p:nvSpPr>
          <p:cNvPr id="37" name="Text 35"/>
          <p:cNvSpPr/>
          <p:nvPr/>
        </p:nvSpPr>
        <p:spPr>
          <a:xfrm>
            <a:off x="7955280" y="196596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Prompt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52360" y="24231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C:\...\BelajarOOP&gt;</a:t>
            </a:r>
            <a:pPr indent="0" marL="0">
              <a:buNone/>
            </a:pPr>
            <a:r>
              <a:rPr lang="en-US" sz="11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 -cp bin Main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452360" y="273405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Panjang (cm): </a:t>
            </a:r>
            <a:pPr indent="0" marL="0">
              <a:buNone/>
            </a:pPr>
            <a:r>
              <a:rPr lang="en-US" sz="1150" b="1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452360" y="304495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Lebar (cm): </a:t>
            </a:r>
            <a:pPr indent="0" marL="0">
              <a:buNone/>
            </a:pPr>
            <a:r>
              <a:rPr lang="en-US" sz="1150" b="1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452360" y="335584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1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Tinggi (cm): </a:t>
            </a:r>
            <a:pPr indent="0" marL="0">
              <a:buNone/>
            </a:pPr>
            <a:r>
              <a:rPr lang="en-US" sz="1150" b="1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452360" y="366674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= 160.0 cm3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132320" y="4892040"/>
            <a:ext cx="4434840" cy="1051560"/>
          </a:xfrm>
          <a:prstGeom prst="roundRect">
            <a:avLst>
              <a:gd name="adj" fmla="val 8696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501091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B85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oranye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adalah nilai yang diketik pengguna saat program meminta input di jendela terminal.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PRAKTIKUM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Praktik Mandiri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Buat project baru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project Java baru di VS Code bernama LatihanOOP.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173736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96596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251460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Rancang kelas Buku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97180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Atribut: judul, penulis, tahun. Tambahkan constructor.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0" y="173736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96596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01000" y="251460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Tambahkan method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01000" y="297180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method tampilkanInfo() untuk mencetak detail buku.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52628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" y="507492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Terapkan enkapsulasi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53212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Jadikan atribut private, lengkapi dengan getter dan setter.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06240" y="429768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F6F3EF"/>
          </a:solidFill>
          <a:ln w="12700">
            <a:solidFill>
              <a:srgbClr val="E4DD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452628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434840" y="507492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 di main()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34840" y="553212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2 objek Buku berbeda dan tampilkan datanya.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0" y="429768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20160F"/>
          </a:solidFill>
          <a:ln/>
        </p:spPr>
      </p:sp>
      <p:sp>
        <p:nvSpPr>
          <p:cNvPr id="30" name="Text 28"/>
          <p:cNvSpPr/>
          <p:nvPr/>
        </p:nvSpPr>
        <p:spPr>
          <a:xfrm>
            <a:off x="8001000" y="4526280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01000" y="4892040"/>
            <a:ext cx="28529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juga variasi soal: hitung luas permukaan balok (2×(pl+pt+lt)).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OOP • Java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0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97280" y="2011680"/>
            <a:ext cx="566928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8720C">
                    <a:alpha val="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Selamat Berlatih Object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Oriented Programming!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9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Praktikkan setiap konsep langsung di Visual Studio Code — kelas, objek, constructor, enkapsulasi, dan program interaktif akan lebih mudah dipahami lewat kode nyata.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2011680" cy="0"/>
          </a:xfrm>
          <a:prstGeom prst="line">
            <a:avLst/>
          </a:prstGeom>
          <a:noFill/>
          <a:ln w="25400">
            <a:solidFill>
              <a:srgbClr val="E872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Pertanyaan? Silakan diskusikan bersama asisten praktikum.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2026-08-18T06:52:26Z</dcterms:created>
  <dcterms:modified xsi:type="dcterms:W3CDTF">2026-08-18T06:52:26Z</dcterms:modified>
</cp:coreProperties>
</file>