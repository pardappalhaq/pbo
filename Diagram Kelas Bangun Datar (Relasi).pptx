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 GENERALISASI · JAVA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9164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 Kelas: Bangun Datar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 pewarisan (generalisasi) antara kelas abstrak BangunDatar dengan dua subclass: Lingkaran dan Persegi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732520" y="1737360"/>
            <a:ext cx="2377440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32520" y="1737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BangunDatar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18120" y="306324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1812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Lingkaran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921240" y="306324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92124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Persegi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820656" y="2310140"/>
            <a:ext cx="201168" cy="201168"/>
          </a:xfrm>
          <a:prstGeom prst="triangle">
            <a:avLst/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21240" y="2493020"/>
            <a:ext cx="0" cy="11302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32520" y="2606040"/>
            <a:ext cx="2103120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32520" y="2606040"/>
            <a:ext cx="0" cy="45720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35640" y="2606040"/>
            <a:ext cx="0" cy="45720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&amp; RELASI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 Kelas Bangun Datar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Lingkaran dan Persegi mewarisi (extends) kelas abstrak BangunDatar.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429000" cy="26517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788920"/>
            <a:ext cx="3429000" cy="594360"/>
          </a:xfrm>
          <a:prstGeom prst="rect">
            <a:avLst/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84378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«abstract»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26664"/>
            <a:ext cx="3429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BangunDatar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411980"/>
            <a:ext cx="342900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3383280"/>
            <a:ext cx="32095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nama: String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4411980"/>
            <a:ext cx="32095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BangunDatar(String)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luas(): double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keliling(): double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getNama(): String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75320" y="1783080"/>
            <a:ext cx="3383280" cy="196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5320" y="1783080"/>
            <a:ext cx="3383280" cy="457200"/>
          </a:xfrm>
          <a:prstGeom prst="rect">
            <a:avLst/>
          </a:prstGeom>
          <a:solidFill>
            <a:srgbClr val="3A4A9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5320" y="1783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Lingkaran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75320" y="2994660"/>
            <a:ext cx="338328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85048" y="2240280"/>
            <a:ext cx="316382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jariJari: double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385048" y="2994660"/>
            <a:ext cx="316382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Lingkaran(double)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luas(): double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keliling(): double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75320" y="4434840"/>
            <a:ext cx="3383280" cy="196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4434840"/>
            <a:ext cx="3383280" cy="457200"/>
          </a:xfrm>
          <a:prstGeom prst="rect">
            <a:avLst/>
          </a:prstGeom>
          <a:solidFill>
            <a:srgbClr val="3A4A9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4434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Persegi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75320" y="5646420"/>
            <a:ext cx="338328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85048" y="4892040"/>
            <a:ext cx="316382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sisi: double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385048" y="5646420"/>
            <a:ext cx="316382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Persegi(double)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luas(): double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keliling(): double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 rot="16200000">
            <a:off x="4006169" y="4014948"/>
            <a:ext cx="237744" cy="199705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25625" y="4114800"/>
            <a:ext cx="2083735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2766060"/>
            <a:ext cx="0" cy="26517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2766060"/>
            <a:ext cx="19659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5417820"/>
            <a:ext cx="19659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114800" y="3767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«generalisasi» / extends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PEWARISAN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Memahami Relasinya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BangunDatar berperan sebagai superclass yang diwarisi oleh dua subclass.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2860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Superclass Abstrak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67919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BangunDatar mendefinisikan kontrak umum — atribut nama serta metode luas() dan keliling() — tanpa implementasi rinci.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461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Generalisasi (extends)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6393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Lingkaran dan Persegi mewarisi seluruh atribut dan perilaku milik BangunDatar melalui kata kunci extends.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062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Method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994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subclass wajib mengimplementasikan ulang luas() dan keliling() sesuai rumus bentuknya masing-masing.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2120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1663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55955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 Lingkaran maupun Persegi dapat diperlakukan sebagai BangunDatar, sehingga dapat diproses secara seragam.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JAVA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Kode Kelas BangunDatar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abstrak tidak dapat langsung dibuat objeknya, hanya diwarisi.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818120" cy="4663440"/>
          </a:xfrm>
          <a:prstGeom prst="roundRect">
            <a:avLst>
              <a:gd name="adj" fmla="val 1765"/>
            </a:avLst>
          </a:prstGeom>
          <a:solidFill>
            <a:srgbClr val="10163A"/>
          </a:solidFill>
          <a:ln/>
          <a:effectLst>
            <a:outerShdw sx="100000" sy="100000" kx="0" ky="0" algn="bl" rotWithShape="0" blurRad="127000" dist="50800" dir="5400000">
              <a:srgbClr val="0B0E24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7818120" cy="347472"/>
          </a:xfrm>
          <a:prstGeom prst="roundRect">
            <a:avLst>
              <a:gd name="adj" fmla="val 23684"/>
            </a:avLst>
          </a:prstGeom>
          <a:solidFill>
            <a:srgbClr val="1B235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02536"/>
            <a:ext cx="7818120" cy="173736"/>
          </a:xfrm>
          <a:prstGeom prst="rect">
            <a:avLst/>
          </a:prstGeom>
          <a:solidFill>
            <a:srgbClr val="1B2354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52244"/>
            <a:ext cx="100584" cy="100584"/>
          </a:xfrm>
          <a:prstGeom prst="ellipse">
            <a:avLst/>
          </a:prstGeom>
          <a:solidFill>
            <a:srgbClr val="F2685C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952244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70432" y="1952244"/>
            <a:ext cx="100584" cy="100584"/>
          </a:xfrm>
          <a:prstGeom prst="ellipse">
            <a:avLst/>
          </a:prstGeom>
          <a:solidFill>
            <a:srgbClr val="5FD0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182880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BangunDatar.java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2267712"/>
            <a:ext cx="7415784" cy="413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</a:t>
            </a:r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</a:t>
            </a:r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BangunDatar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protected 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nama;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BangunDatar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(String nama) {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.nama = nama;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</a:t>
            </a:r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</a:t>
            </a:r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luas();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</a:t>
            </a:r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</a:t>
            </a:r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keliling();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getNama() {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nama;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64108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41080" y="2377440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4108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230428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 tidak bisa di-new secara langsung.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641080" y="3520440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4108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344728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abstract hanya berisi tanda tangan, tanpa isi — wajib di-override subclass.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41080" y="4663440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41080" y="4663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459028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memungkinkan subclass mengakses nama secara langsung.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JAVA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Kode Subclass: Lingkaran &amp; Persegi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 kelas ini extends BangunDatar dan meng-override luas() serta keliling().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40680" cy="4663440"/>
          </a:xfrm>
          <a:prstGeom prst="roundRect">
            <a:avLst>
              <a:gd name="adj" fmla="val 1765"/>
            </a:avLst>
          </a:prstGeom>
          <a:solidFill>
            <a:srgbClr val="10163A"/>
          </a:solidFill>
          <a:ln/>
          <a:effectLst>
            <a:outerShdw sx="100000" sy="100000" kx="0" ky="0" algn="bl" rotWithShape="0" blurRad="127000" dist="50800" dir="5400000">
              <a:srgbClr val="0B0E24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5440680" cy="347472"/>
          </a:xfrm>
          <a:prstGeom prst="roundRect">
            <a:avLst>
              <a:gd name="adj" fmla="val 23684"/>
            </a:avLst>
          </a:prstGeom>
          <a:solidFill>
            <a:srgbClr val="1B235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02536"/>
            <a:ext cx="5440680" cy="173736"/>
          </a:xfrm>
          <a:prstGeom prst="rect">
            <a:avLst/>
          </a:prstGeom>
          <a:solidFill>
            <a:srgbClr val="1B2354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52244"/>
            <a:ext cx="100584" cy="100584"/>
          </a:xfrm>
          <a:prstGeom prst="ellipse">
            <a:avLst/>
          </a:prstGeom>
          <a:solidFill>
            <a:srgbClr val="F2685C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952244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70432" y="1952244"/>
            <a:ext cx="100584" cy="100584"/>
          </a:xfrm>
          <a:prstGeom prst="ellipse">
            <a:avLst/>
          </a:prstGeom>
          <a:solidFill>
            <a:srgbClr val="5FD0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1828800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Lingkaran.java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2267712"/>
            <a:ext cx="5038344" cy="413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</a:t>
            </a:r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Lingkaran </a:t>
            </a:r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BangunDatar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</a:t>
            </a:r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jariJari;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Lingkaran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(double jariJari) {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8FD6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"Lingkaran"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.jariJari = jariJari;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</a:t>
            </a:r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luas() {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Math.PI * jariJari * jariJari;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</a:t>
            </a:r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keliling() {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Math.PI * jariJari;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1828800"/>
            <a:ext cx="5440680" cy="4663440"/>
          </a:xfrm>
          <a:prstGeom prst="roundRect">
            <a:avLst>
              <a:gd name="adj" fmla="val 1765"/>
            </a:avLst>
          </a:prstGeom>
          <a:solidFill>
            <a:srgbClr val="10163A"/>
          </a:solidFill>
          <a:ln/>
          <a:effectLst>
            <a:outerShdw sx="100000" sy="100000" kx="0" ky="0" algn="bl" rotWithShape="0" blurRad="127000" dist="50800" dir="5400000">
              <a:srgbClr val="0B0E24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828800"/>
            <a:ext cx="5440680" cy="347472"/>
          </a:xfrm>
          <a:prstGeom prst="roundRect">
            <a:avLst>
              <a:gd name="adj" fmla="val 23684"/>
            </a:avLst>
          </a:prstGeom>
          <a:solidFill>
            <a:srgbClr val="1B2354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2002536"/>
            <a:ext cx="5440680" cy="173736"/>
          </a:xfrm>
          <a:prstGeom prst="rect">
            <a:avLst/>
          </a:prstGeom>
          <a:solidFill>
            <a:srgbClr val="1B2354"/>
          </a:solidFill>
          <a:ln/>
        </p:spPr>
      </p:sp>
      <p:sp>
        <p:nvSpPr>
          <p:cNvPr id="16" name="Shape 14"/>
          <p:cNvSpPr/>
          <p:nvPr/>
        </p:nvSpPr>
        <p:spPr>
          <a:xfrm>
            <a:off x="6355080" y="1952244"/>
            <a:ext cx="100584" cy="100584"/>
          </a:xfrm>
          <a:prstGeom prst="ellipse">
            <a:avLst/>
          </a:prstGeom>
          <a:solidFill>
            <a:srgbClr val="F2685C"/>
          </a:solidFill>
          <a:ln/>
        </p:spPr>
      </p:sp>
      <p:sp>
        <p:nvSpPr>
          <p:cNvPr id="17" name="Shape 15"/>
          <p:cNvSpPr/>
          <p:nvPr/>
        </p:nvSpPr>
        <p:spPr>
          <a:xfrm>
            <a:off x="6574536" y="1952244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8" name="Shape 16"/>
          <p:cNvSpPr/>
          <p:nvPr/>
        </p:nvSpPr>
        <p:spPr>
          <a:xfrm>
            <a:off x="6793992" y="1952244"/>
            <a:ext cx="100584" cy="100584"/>
          </a:xfrm>
          <a:prstGeom prst="ellipse">
            <a:avLst/>
          </a:prstGeom>
          <a:solidFill>
            <a:srgbClr val="5FD06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72200" y="1828800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Persegi.java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373368" y="2267712"/>
            <a:ext cx="5038344" cy="413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</a:t>
            </a:r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Persegi </a:t>
            </a:r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BangunDatar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</a:t>
            </a:r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sisi;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Persegi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(double sisi) {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8FD6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"Persegi"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.sisi = sisi;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</a:t>
            </a:r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luas() {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sisi * sisi;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</a:t>
            </a:r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keliling() {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sisi;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JAVA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Kode Program Utama (Main)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bertipe BangunDatar dapat menampung objek Lingkaran maupun Persegi.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818120" cy="3977640"/>
          </a:xfrm>
          <a:prstGeom prst="roundRect">
            <a:avLst>
              <a:gd name="adj" fmla="val 2069"/>
            </a:avLst>
          </a:prstGeom>
          <a:solidFill>
            <a:srgbClr val="10163A"/>
          </a:solidFill>
          <a:ln/>
          <a:effectLst>
            <a:outerShdw sx="100000" sy="100000" kx="0" ky="0" algn="bl" rotWithShape="0" blurRad="127000" dist="50800" dir="5400000">
              <a:srgbClr val="0B0E24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7818120" cy="347472"/>
          </a:xfrm>
          <a:prstGeom prst="roundRect">
            <a:avLst>
              <a:gd name="adj" fmla="val 23684"/>
            </a:avLst>
          </a:prstGeom>
          <a:solidFill>
            <a:srgbClr val="1B235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02536"/>
            <a:ext cx="7818120" cy="173736"/>
          </a:xfrm>
          <a:prstGeom prst="rect">
            <a:avLst/>
          </a:prstGeom>
          <a:solidFill>
            <a:srgbClr val="1B2354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52244"/>
            <a:ext cx="100584" cy="100584"/>
          </a:xfrm>
          <a:prstGeom prst="ellipse">
            <a:avLst/>
          </a:prstGeom>
          <a:solidFill>
            <a:srgbClr val="F2685C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952244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70432" y="1952244"/>
            <a:ext cx="100584" cy="100584"/>
          </a:xfrm>
          <a:prstGeom prst="ellipse">
            <a:avLst/>
          </a:prstGeom>
          <a:solidFill>
            <a:srgbClr val="5FD0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182880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Main.java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2267712"/>
            <a:ext cx="7415784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main(String[] args) 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BangunDatar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daftarBangun = 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Lingkaran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Persegi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BangunDatar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bangun : daftarBangun) 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System.out.println(bangun.getNama() +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D6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System.out.println(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D6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Luas: 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bangun.luas());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System.out.println(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D6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Keliling: 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bangun.keliling());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41080" y="1828800"/>
            <a:ext cx="3017520" cy="1417320"/>
          </a:xfrm>
          <a:prstGeom prst="roundRect">
            <a:avLst>
              <a:gd name="adj" fmla="val 5161"/>
            </a:avLst>
          </a:prstGeom>
          <a:solidFill>
            <a:srgbClr val="F3F6F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851392" y="197510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Array Polimorfik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851392" y="230428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Lingkaran dan Persegi disimpan dalam satu array BangunDatar[].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41080" y="3429000"/>
            <a:ext cx="3017520" cy="1417320"/>
          </a:xfrm>
          <a:prstGeom prst="roundRect">
            <a:avLst>
              <a:gd name="adj" fmla="val 5161"/>
            </a:avLst>
          </a:prstGeom>
          <a:solidFill>
            <a:srgbClr val="F3F6F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851392" y="357530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Iterasi Seragam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390448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Perulangan for memanggil getNama(), luas(), keliling() tanpa tahu subclass spesifiknya.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4572000" cy="45720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389120"/>
            <a:ext cx="4114800" cy="41148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EKSEKUSI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144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Program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Lingkaran(7) dan Persegi(5):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852160" cy="2651760"/>
          </a:xfrm>
          <a:prstGeom prst="roundRect">
            <a:avLst>
              <a:gd name="adj" fmla="val 3103"/>
            </a:avLst>
          </a:prstGeom>
          <a:solidFill>
            <a:srgbClr val="10163A"/>
          </a:solidFill>
          <a:ln/>
          <a:effectLst>
            <a:outerShdw sx="100000" sy="100000" kx="0" ky="0" algn="bl" rotWithShape="0" blurRad="127000" dist="50800" dir="5400000">
              <a:srgbClr val="0B0E24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03120"/>
            <a:ext cx="5852160" cy="347472"/>
          </a:xfrm>
          <a:prstGeom prst="roundRect">
            <a:avLst>
              <a:gd name="adj" fmla="val 23684"/>
            </a:avLst>
          </a:prstGeom>
          <a:solidFill>
            <a:srgbClr val="1B235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276856"/>
            <a:ext cx="5852160" cy="173736"/>
          </a:xfrm>
          <a:prstGeom prst="rect">
            <a:avLst/>
          </a:prstGeom>
          <a:solidFill>
            <a:srgbClr val="1B235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226564"/>
            <a:ext cx="100584" cy="100584"/>
          </a:xfrm>
          <a:prstGeom prst="ellipse">
            <a:avLst/>
          </a:prstGeom>
          <a:solidFill>
            <a:srgbClr val="F2685C"/>
          </a:solidFill>
          <a:ln/>
        </p:spPr>
      </p:sp>
      <p:sp>
        <p:nvSpPr>
          <p:cNvPr id="11" name="Shape 9"/>
          <p:cNvSpPr/>
          <p:nvPr/>
        </p:nvSpPr>
        <p:spPr>
          <a:xfrm>
            <a:off x="950976" y="2226564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2" name="Shape 10"/>
          <p:cNvSpPr/>
          <p:nvPr/>
        </p:nvSpPr>
        <p:spPr>
          <a:xfrm>
            <a:off x="1170432" y="2226564"/>
            <a:ext cx="100584" cy="100584"/>
          </a:xfrm>
          <a:prstGeom prst="ellipse">
            <a:avLst/>
          </a:prstGeom>
          <a:solidFill>
            <a:srgbClr val="5FD06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10312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2542032"/>
            <a:ext cx="544982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Lingkaran: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Luas: 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153.93804002589985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Keliling: 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43.982297150257104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Persegi: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Luas: 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25.0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Keliling: 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20.0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Bisa Begitu?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20840" y="256032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253288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daftarBangun menyimpan objek Lingkaran dan Persegi sebagai BangunDatar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20840" y="333756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208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331012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Perulangan for memanggil metode yang sama untuk setiap objek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720840" y="411480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2084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408736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otomatis menjalankan versi luas()/keliling() milik subclass masing-masing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720840" y="489204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2084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486460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Inilah polimorfisme: satu pemanggilan, perilaku berbeda sesuai objeknya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2026-08-31T22:35:20Z</dcterms:created>
  <dcterms:modified xsi:type="dcterms:W3CDTF">2026-08-31T22:35:20Z</dcterms:modified>
</cp:coreProperties>
</file>